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stoga" charset="1" panose="00000500000000000000"/>
      <p:regular r:id="rId12"/>
    </p:embeddedFont>
    <p:embeddedFont>
      <p:font typeface="Banana Bold" charset="1" panose="00000800000000000000"/>
      <p:regular r:id="rId13"/>
    </p:embeddedFont>
    <p:embeddedFont>
      <p:font typeface="Banana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6905149"/>
            <a:ext cx="19316691" cy="4989973"/>
          </a:xfrm>
          <a:custGeom>
            <a:avLst/>
            <a:gdLst/>
            <a:ahLst/>
            <a:cxnLst/>
            <a:rect r="r" b="b" t="t" l="l"/>
            <a:pathLst>
              <a:path h="4989973" w="19316691">
                <a:moveTo>
                  <a:pt x="0" y="0"/>
                </a:moveTo>
                <a:lnTo>
                  <a:pt x="19316690" y="0"/>
                </a:lnTo>
                <a:lnTo>
                  <a:pt x="19316690" y="4989974"/>
                </a:lnTo>
                <a:lnTo>
                  <a:pt x="0" y="49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7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7858" y="1521736"/>
            <a:ext cx="11934106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DROUGHT</a:t>
            </a:r>
          </a:p>
          <a:p>
            <a:pPr algn="ctr">
              <a:lnSpc>
                <a:spcPts val="14700"/>
              </a:lnSpc>
            </a:pPr>
            <a:r>
              <a:rPr lang="en-US" sz="10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LENS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5418842" y="6302919"/>
            <a:ext cx="6395095" cy="4330012"/>
          </a:xfrm>
          <a:custGeom>
            <a:avLst/>
            <a:gdLst/>
            <a:ahLst/>
            <a:cxnLst/>
            <a:rect r="r" b="b" t="t" l="l"/>
            <a:pathLst>
              <a:path h="4330012" w="6395095">
                <a:moveTo>
                  <a:pt x="6395095" y="0"/>
                </a:moveTo>
                <a:lnTo>
                  <a:pt x="0" y="0"/>
                </a:lnTo>
                <a:lnTo>
                  <a:pt x="0" y="4330013"/>
                </a:lnTo>
                <a:lnTo>
                  <a:pt x="6395095" y="4330013"/>
                </a:lnTo>
                <a:lnTo>
                  <a:pt x="639509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86789" y="7908815"/>
            <a:ext cx="8343632" cy="2506566"/>
          </a:xfrm>
          <a:custGeom>
            <a:avLst/>
            <a:gdLst/>
            <a:ahLst/>
            <a:cxnLst/>
            <a:rect r="r" b="b" t="t" l="l"/>
            <a:pathLst>
              <a:path h="2506566" w="8343632">
                <a:moveTo>
                  <a:pt x="0" y="0"/>
                </a:moveTo>
                <a:lnTo>
                  <a:pt x="8343632" y="0"/>
                </a:lnTo>
                <a:lnTo>
                  <a:pt x="8343632" y="2506566"/>
                </a:lnTo>
                <a:lnTo>
                  <a:pt x="0" y="2506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05183" y="500809"/>
            <a:ext cx="8124646" cy="8522356"/>
          </a:xfrm>
          <a:custGeom>
            <a:avLst/>
            <a:gdLst/>
            <a:ahLst/>
            <a:cxnLst/>
            <a:rect r="r" b="b" t="t" l="l"/>
            <a:pathLst>
              <a:path h="8522356" w="8124646">
                <a:moveTo>
                  <a:pt x="0" y="0"/>
                </a:moveTo>
                <a:lnTo>
                  <a:pt x="8124647" y="0"/>
                </a:lnTo>
                <a:lnTo>
                  <a:pt x="8124647" y="8522356"/>
                </a:lnTo>
                <a:lnTo>
                  <a:pt x="0" y="85223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27756" y="6958421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5" y="0"/>
                </a:lnTo>
                <a:lnTo>
                  <a:pt x="3105845" y="2501500"/>
                </a:lnTo>
                <a:lnTo>
                  <a:pt x="0" y="250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4398" y="8467925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8" y="0"/>
                </a:lnTo>
                <a:lnTo>
                  <a:pt x="1187678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06196" y="9023165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7" y="0"/>
                </a:lnTo>
                <a:lnTo>
                  <a:pt x="1187677" y="1110478"/>
                </a:lnTo>
                <a:lnTo>
                  <a:pt x="0" y="11104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8618" y="7511629"/>
            <a:ext cx="2554635" cy="2190600"/>
          </a:xfrm>
          <a:custGeom>
            <a:avLst/>
            <a:gdLst/>
            <a:ahLst/>
            <a:cxnLst/>
            <a:rect r="r" b="b" t="t" l="l"/>
            <a:pathLst>
              <a:path h="2190600" w="2554635">
                <a:moveTo>
                  <a:pt x="0" y="0"/>
                </a:moveTo>
                <a:lnTo>
                  <a:pt x="2554636" y="0"/>
                </a:lnTo>
                <a:lnTo>
                  <a:pt x="2554636" y="2190600"/>
                </a:lnTo>
                <a:lnTo>
                  <a:pt x="0" y="2190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80679" y="5546307"/>
            <a:ext cx="8360710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74D40"/>
                </a:solidFill>
                <a:latin typeface="Banana Bold"/>
                <a:ea typeface="Banana Bold"/>
                <a:cs typeface="Banana Bold"/>
                <a:sym typeface="Banana Bold"/>
              </a:rPr>
              <a:t>BY: TEAM WOLVERINE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7792013"/>
            <a:ext cx="19316691" cy="3230978"/>
          </a:xfrm>
          <a:custGeom>
            <a:avLst/>
            <a:gdLst/>
            <a:ahLst/>
            <a:cxnLst/>
            <a:rect r="r" b="b" t="t" l="l"/>
            <a:pathLst>
              <a:path h="3230978" w="19316691">
                <a:moveTo>
                  <a:pt x="0" y="0"/>
                </a:moveTo>
                <a:lnTo>
                  <a:pt x="19316690" y="0"/>
                </a:lnTo>
                <a:lnTo>
                  <a:pt x="19316690" y="3230978"/>
                </a:lnTo>
                <a:lnTo>
                  <a:pt x="0" y="323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67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324" y="2546351"/>
            <a:ext cx="12273976" cy="6711949"/>
            <a:chOff x="0" y="0"/>
            <a:chExt cx="3232652" cy="176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2652" cy="1767756"/>
            </a:xfrm>
            <a:custGeom>
              <a:avLst/>
              <a:gdLst/>
              <a:ahLst/>
              <a:cxnLst/>
              <a:rect r="r" b="b" t="t" l="l"/>
              <a:pathLst>
                <a:path h="1767756" w="3232652">
                  <a:moveTo>
                    <a:pt x="32169" y="0"/>
                  </a:moveTo>
                  <a:lnTo>
                    <a:pt x="3200483" y="0"/>
                  </a:lnTo>
                  <a:cubicBezTo>
                    <a:pt x="3218250" y="0"/>
                    <a:pt x="3232652" y="14402"/>
                    <a:pt x="3232652" y="32169"/>
                  </a:cubicBezTo>
                  <a:lnTo>
                    <a:pt x="3232652" y="1735587"/>
                  </a:lnTo>
                  <a:cubicBezTo>
                    <a:pt x="3232652" y="1744119"/>
                    <a:pt x="3229263" y="1752301"/>
                    <a:pt x="3223230" y="1758334"/>
                  </a:cubicBezTo>
                  <a:cubicBezTo>
                    <a:pt x="3217197" y="1764367"/>
                    <a:pt x="3209015" y="1767756"/>
                    <a:pt x="3200483" y="1767756"/>
                  </a:cubicBezTo>
                  <a:lnTo>
                    <a:pt x="32169" y="1767756"/>
                  </a:lnTo>
                  <a:cubicBezTo>
                    <a:pt x="23637" y="1767756"/>
                    <a:pt x="15455" y="1764367"/>
                    <a:pt x="9422" y="1758334"/>
                  </a:cubicBezTo>
                  <a:cubicBezTo>
                    <a:pt x="3389" y="1752301"/>
                    <a:pt x="0" y="1744119"/>
                    <a:pt x="0" y="1735587"/>
                  </a:cubicBezTo>
                  <a:lnTo>
                    <a:pt x="0" y="32169"/>
                  </a:lnTo>
                  <a:cubicBezTo>
                    <a:pt x="0" y="23637"/>
                    <a:pt x="3389" y="15455"/>
                    <a:pt x="9422" y="9422"/>
                  </a:cubicBezTo>
                  <a:cubicBezTo>
                    <a:pt x="15455" y="3389"/>
                    <a:pt x="23637" y="0"/>
                    <a:pt x="3216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8E9F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32652" cy="1805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012867" y="8397316"/>
            <a:ext cx="6717555" cy="2018065"/>
          </a:xfrm>
          <a:custGeom>
            <a:avLst/>
            <a:gdLst/>
            <a:ahLst/>
            <a:cxnLst/>
            <a:rect r="r" b="b" t="t" l="l"/>
            <a:pathLst>
              <a:path h="2018065" w="6717555">
                <a:moveTo>
                  <a:pt x="0" y="0"/>
                </a:moveTo>
                <a:lnTo>
                  <a:pt x="6717554" y="0"/>
                </a:lnTo>
                <a:lnTo>
                  <a:pt x="6717554" y="2018065"/>
                </a:lnTo>
                <a:lnTo>
                  <a:pt x="0" y="2018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8332" y="6387296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5" y="0"/>
                </a:lnTo>
                <a:lnTo>
                  <a:pt x="3105845" y="2501499"/>
                </a:lnTo>
                <a:lnTo>
                  <a:pt x="0" y="250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60015" y="8147821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8" y="0"/>
                </a:lnTo>
                <a:lnTo>
                  <a:pt x="1187678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14345" y="7248281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4" y="0"/>
                </a:lnTo>
                <a:lnTo>
                  <a:pt x="3105844" y="2501499"/>
                </a:lnTo>
                <a:lnTo>
                  <a:pt x="0" y="250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29515" y="8321943"/>
            <a:ext cx="6968449" cy="2093438"/>
          </a:xfrm>
          <a:custGeom>
            <a:avLst/>
            <a:gdLst/>
            <a:ahLst/>
            <a:cxnLst/>
            <a:rect r="r" b="b" t="t" l="l"/>
            <a:pathLst>
              <a:path h="2093438" w="6968449">
                <a:moveTo>
                  <a:pt x="0" y="0"/>
                </a:moveTo>
                <a:lnTo>
                  <a:pt x="6968449" y="0"/>
                </a:lnTo>
                <a:lnTo>
                  <a:pt x="6968449" y="2093438"/>
                </a:lnTo>
                <a:lnTo>
                  <a:pt x="0" y="209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90707" y="8851109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7" y="0"/>
                </a:lnTo>
                <a:lnTo>
                  <a:pt x="1187677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01130" y="2956912"/>
            <a:ext cx="8730362" cy="596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sz="3388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Corn and soybean farmers in Iowa and Nebraska need a way to estimate potential crop yield losses because the same drought severity can have different impacts depending on irrigation, drought timing, and location. We propose a data-driven dashboard that uses historical agricultural data to provide understandable yield estimates and support better farming decisions included with an agricultural advisor.</a:t>
            </a:r>
          </a:p>
          <a:p>
            <a:pPr algn="ctr">
              <a:lnSpc>
                <a:spcPts val="474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929324" y="1146354"/>
            <a:ext cx="11418815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BACKGROUND + ISSUE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7792013"/>
            <a:ext cx="19316691" cy="3230978"/>
          </a:xfrm>
          <a:custGeom>
            <a:avLst/>
            <a:gdLst/>
            <a:ahLst/>
            <a:cxnLst/>
            <a:rect r="r" b="b" t="t" l="l"/>
            <a:pathLst>
              <a:path h="3230978" w="19316691">
                <a:moveTo>
                  <a:pt x="0" y="0"/>
                </a:moveTo>
                <a:lnTo>
                  <a:pt x="19316690" y="0"/>
                </a:lnTo>
                <a:lnTo>
                  <a:pt x="19316690" y="3230978"/>
                </a:lnTo>
                <a:lnTo>
                  <a:pt x="0" y="323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67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324" y="2546351"/>
            <a:ext cx="12273976" cy="6711949"/>
            <a:chOff x="0" y="0"/>
            <a:chExt cx="3232652" cy="176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2652" cy="1767756"/>
            </a:xfrm>
            <a:custGeom>
              <a:avLst/>
              <a:gdLst/>
              <a:ahLst/>
              <a:cxnLst/>
              <a:rect r="r" b="b" t="t" l="l"/>
              <a:pathLst>
                <a:path h="1767756" w="3232652">
                  <a:moveTo>
                    <a:pt x="32169" y="0"/>
                  </a:moveTo>
                  <a:lnTo>
                    <a:pt x="3200483" y="0"/>
                  </a:lnTo>
                  <a:cubicBezTo>
                    <a:pt x="3218250" y="0"/>
                    <a:pt x="3232652" y="14402"/>
                    <a:pt x="3232652" y="32169"/>
                  </a:cubicBezTo>
                  <a:lnTo>
                    <a:pt x="3232652" y="1735587"/>
                  </a:lnTo>
                  <a:cubicBezTo>
                    <a:pt x="3232652" y="1744119"/>
                    <a:pt x="3229263" y="1752301"/>
                    <a:pt x="3223230" y="1758334"/>
                  </a:cubicBezTo>
                  <a:cubicBezTo>
                    <a:pt x="3217197" y="1764367"/>
                    <a:pt x="3209015" y="1767756"/>
                    <a:pt x="3200483" y="1767756"/>
                  </a:cubicBezTo>
                  <a:lnTo>
                    <a:pt x="32169" y="1767756"/>
                  </a:lnTo>
                  <a:cubicBezTo>
                    <a:pt x="23637" y="1767756"/>
                    <a:pt x="15455" y="1764367"/>
                    <a:pt x="9422" y="1758334"/>
                  </a:cubicBezTo>
                  <a:cubicBezTo>
                    <a:pt x="3389" y="1752301"/>
                    <a:pt x="0" y="1744119"/>
                    <a:pt x="0" y="1735587"/>
                  </a:cubicBezTo>
                  <a:lnTo>
                    <a:pt x="0" y="32169"/>
                  </a:lnTo>
                  <a:cubicBezTo>
                    <a:pt x="0" y="23637"/>
                    <a:pt x="3389" y="15455"/>
                    <a:pt x="9422" y="9422"/>
                  </a:cubicBezTo>
                  <a:cubicBezTo>
                    <a:pt x="15455" y="3389"/>
                    <a:pt x="23637" y="0"/>
                    <a:pt x="3216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8E9F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32652" cy="1805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012867" y="8397316"/>
            <a:ext cx="6717555" cy="2018065"/>
          </a:xfrm>
          <a:custGeom>
            <a:avLst/>
            <a:gdLst/>
            <a:ahLst/>
            <a:cxnLst/>
            <a:rect r="r" b="b" t="t" l="l"/>
            <a:pathLst>
              <a:path h="2018065" w="6717555">
                <a:moveTo>
                  <a:pt x="0" y="0"/>
                </a:moveTo>
                <a:lnTo>
                  <a:pt x="6717554" y="0"/>
                </a:lnTo>
                <a:lnTo>
                  <a:pt x="6717554" y="2018065"/>
                </a:lnTo>
                <a:lnTo>
                  <a:pt x="0" y="2018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29515" y="8321943"/>
            <a:ext cx="6968449" cy="2093438"/>
          </a:xfrm>
          <a:custGeom>
            <a:avLst/>
            <a:gdLst/>
            <a:ahLst/>
            <a:cxnLst/>
            <a:rect r="r" b="b" t="t" l="l"/>
            <a:pathLst>
              <a:path h="2093438" w="6968449">
                <a:moveTo>
                  <a:pt x="0" y="0"/>
                </a:moveTo>
                <a:lnTo>
                  <a:pt x="6968449" y="0"/>
                </a:lnTo>
                <a:lnTo>
                  <a:pt x="6968449" y="2093438"/>
                </a:lnTo>
                <a:lnTo>
                  <a:pt x="0" y="209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40248" y="3269990"/>
            <a:ext cx="6034679" cy="6330083"/>
          </a:xfrm>
          <a:custGeom>
            <a:avLst/>
            <a:gdLst/>
            <a:ahLst/>
            <a:cxnLst/>
            <a:rect r="r" b="b" t="t" l="l"/>
            <a:pathLst>
              <a:path h="6330083" w="6034679">
                <a:moveTo>
                  <a:pt x="0" y="0"/>
                </a:moveTo>
                <a:lnTo>
                  <a:pt x="6034679" y="0"/>
                </a:lnTo>
                <a:lnTo>
                  <a:pt x="6034679" y="6330083"/>
                </a:lnTo>
                <a:lnTo>
                  <a:pt x="0" y="6330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01105" y="1186644"/>
            <a:ext cx="9703866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USERS AND GOALS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15255" y="2952778"/>
            <a:ext cx="11408868" cy="6561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3"/>
              </a:lnSpc>
            </a:pPr>
            <a:r>
              <a:rPr lang="en-US" sz="3388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Farmers in Iowa and Nebraska who are growing corn and soybeans, especially in areas of the Midwest where drought is common.</a:t>
            </a:r>
          </a:p>
          <a:p>
            <a:pPr algn="ctr">
              <a:lnSpc>
                <a:spcPts val="4743"/>
              </a:lnSpc>
            </a:pPr>
          </a:p>
          <a:p>
            <a:pPr algn="ctr">
              <a:lnSpc>
                <a:spcPts val="4743"/>
              </a:lnSpc>
            </a:pPr>
            <a:r>
              <a:rPr lang="en-US" sz="3388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Our goal is to help farmers understand the potential effects of an approaching drought and what they can do to prepare for future droughts.</a:t>
            </a:r>
          </a:p>
          <a:p>
            <a:pPr algn="ctr">
              <a:lnSpc>
                <a:spcPts val="4743"/>
              </a:lnSpc>
            </a:pPr>
          </a:p>
          <a:p>
            <a:pPr algn="ctr">
              <a:lnSpc>
                <a:spcPts val="4743"/>
              </a:lnSpc>
            </a:pPr>
            <a:r>
              <a:rPr lang="en-US" sz="3388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We want to show how much yield loss a drought could cause so they can make informed decisions on how to prepare for times of need.</a:t>
            </a:r>
          </a:p>
          <a:p>
            <a:pPr algn="ctr">
              <a:lnSpc>
                <a:spcPts val="4743"/>
              </a:lnSpc>
            </a:pPr>
          </a:p>
          <a:p>
            <a:pPr algn="ctr">
              <a:lnSpc>
                <a:spcPts val="474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7792013"/>
            <a:ext cx="19316691" cy="3230978"/>
          </a:xfrm>
          <a:custGeom>
            <a:avLst/>
            <a:gdLst/>
            <a:ahLst/>
            <a:cxnLst/>
            <a:rect r="r" b="b" t="t" l="l"/>
            <a:pathLst>
              <a:path h="3230978" w="19316691">
                <a:moveTo>
                  <a:pt x="0" y="0"/>
                </a:moveTo>
                <a:lnTo>
                  <a:pt x="19316690" y="0"/>
                </a:lnTo>
                <a:lnTo>
                  <a:pt x="19316690" y="3230978"/>
                </a:lnTo>
                <a:lnTo>
                  <a:pt x="0" y="323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67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324" y="2546351"/>
            <a:ext cx="12273976" cy="6711949"/>
            <a:chOff x="0" y="0"/>
            <a:chExt cx="3232652" cy="176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2652" cy="1767756"/>
            </a:xfrm>
            <a:custGeom>
              <a:avLst/>
              <a:gdLst/>
              <a:ahLst/>
              <a:cxnLst/>
              <a:rect r="r" b="b" t="t" l="l"/>
              <a:pathLst>
                <a:path h="1767756" w="3232652">
                  <a:moveTo>
                    <a:pt x="32169" y="0"/>
                  </a:moveTo>
                  <a:lnTo>
                    <a:pt x="3200483" y="0"/>
                  </a:lnTo>
                  <a:cubicBezTo>
                    <a:pt x="3218250" y="0"/>
                    <a:pt x="3232652" y="14402"/>
                    <a:pt x="3232652" y="32169"/>
                  </a:cubicBezTo>
                  <a:lnTo>
                    <a:pt x="3232652" y="1735587"/>
                  </a:lnTo>
                  <a:cubicBezTo>
                    <a:pt x="3232652" y="1744119"/>
                    <a:pt x="3229263" y="1752301"/>
                    <a:pt x="3223230" y="1758334"/>
                  </a:cubicBezTo>
                  <a:cubicBezTo>
                    <a:pt x="3217197" y="1764367"/>
                    <a:pt x="3209015" y="1767756"/>
                    <a:pt x="3200483" y="1767756"/>
                  </a:cubicBezTo>
                  <a:lnTo>
                    <a:pt x="32169" y="1767756"/>
                  </a:lnTo>
                  <a:cubicBezTo>
                    <a:pt x="23637" y="1767756"/>
                    <a:pt x="15455" y="1764367"/>
                    <a:pt x="9422" y="1758334"/>
                  </a:cubicBezTo>
                  <a:cubicBezTo>
                    <a:pt x="3389" y="1752301"/>
                    <a:pt x="0" y="1744119"/>
                    <a:pt x="0" y="1735587"/>
                  </a:cubicBezTo>
                  <a:lnTo>
                    <a:pt x="0" y="32169"/>
                  </a:lnTo>
                  <a:cubicBezTo>
                    <a:pt x="0" y="23637"/>
                    <a:pt x="3389" y="15455"/>
                    <a:pt x="9422" y="9422"/>
                  </a:cubicBezTo>
                  <a:cubicBezTo>
                    <a:pt x="15455" y="3389"/>
                    <a:pt x="23637" y="0"/>
                    <a:pt x="3216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8E9F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32652" cy="1805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012867" y="8397316"/>
            <a:ext cx="6717555" cy="2018065"/>
          </a:xfrm>
          <a:custGeom>
            <a:avLst/>
            <a:gdLst/>
            <a:ahLst/>
            <a:cxnLst/>
            <a:rect r="r" b="b" t="t" l="l"/>
            <a:pathLst>
              <a:path h="2018065" w="6717555">
                <a:moveTo>
                  <a:pt x="0" y="0"/>
                </a:moveTo>
                <a:lnTo>
                  <a:pt x="6717554" y="0"/>
                </a:lnTo>
                <a:lnTo>
                  <a:pt x="6717554" y="2018065"/>
                </a:lnTo>
                <a:lnTo>
                  <a:pt x="0" y="2018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29515" y="8321943"/>
            <a:ext cx="6968449" cy="2093438"/>
          </a:xfrm>
          <a:custGeom>
            <a:avLst/>
            <a:gdLst/>
            <a:ahLst/>
            <a:cxnLst/>
            <a:rect r="r" b="b" t="t" l="l"/>
            <a:pathLst>
              <a:path h="2093438" w="6968449">
                <a:moveTo>
                  <a:pt x="0" y="0"/>
                </a:moveTo>
                <a:lnTo>
                  <a:pt x="6968449" y="0"/>
                </a:lnTo>
                <a:lnTo>
                  <a:pt x="6968449" y="2093438"/>
                </a:lnTo>
                <a:lnTo>
                  <a:pt x="0" y="209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6538" y="5574162"/>
            <a:ext cx="5012878" cy="4298543"/>
          </a:xfrm>
          <a:custGeom>
            <a:avLst/>
            <a:gdLst/>
            <a:ahLst/>
            <a:cxnLst/>
            <a:rect r="r" b="b" t="t" l="l"/>
            <a:pathLst>
              <a:path h="4298543" w="5012878">
                <a:moveTo>
                  <a:pt x="0" y="0"/>
                </a:moveTo>
                <a:lnTo>
                  <a:pt x="5012879" y="0"/>
                </a:lnTo>
                <a:lnTo>
                  <a:pt x="5012879" y="4298544"/>
                </a:lnTo>
                <a:lnTo>
                  <a:pt x="0" y="4298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67593" y="1114157"/>
            <a:ext cx="8797436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THE DECISIONS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0915" y="3284411"/>
            <a:ext cx="10607682" cy="515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4"/>
              </a:lnSpc>
            </a:pPr>
            <a:r>
              <a:rPr lang="en-US" sz="3260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Our decision is to create a web app that helps farmers understand the historical impact of drought and calculate comparisons for both Iowa and Nebraska, including the differences between irrigated and non-irrigated areas.</a:t>
            </a:r>
          </a:p>
          <a:p>
            <a:pPr algn="l">
              <a:lnSpc>
                <a:spcPts val="4564"/>
              </a:lnSpc>
            </a:pPr>
          </a:p>
          <a:p>
            <a:pPr algn="l">
              <a:lnSpc>
                <a:spcPts val="4564"/>
              </a:lnSpc>
            </a:pPr>
            <a:r>
              <a:rPr lang="en-US" sz="3260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With the results given, the farmer can then decide how much to prepare for a future drought, whether to raise crop insurance, plan irrigation early, line up grain storage, or change how much grain to contract.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7792013"/>
            <a:ext cx="19316691" cy="3230978"/>
          </a:xfrm>
          <a:custGeom>
            <a:avLst/>
            <a:gdLst/>
            <a:ahLst/>
            <a:cxnLst/>
            <a:rect r="r" b="b" t="t" l="l"/>
            <a:pathLst>
              <a:path h="3230978" w="19316691">
                <a:moveTo>
                  <a:pt x="0" y="0"/>
                </a:moveTo>
                <a:lnTo>
                  <a:pt x="19316690" y="0"/>
                </a:lnTo>
                <a:lnTo>
                  <a:pt x="19316690" y="3230978"/>
                </a:lnTo>
                <a:lnTo>
                  <a:pt x="0" y="3230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679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29324" y="2546351"/>
            <a:ext cx="12273976" cy="6711949"/>
            <a:chOff x="0" y="0"/>
            <a:chExt cx="3232652" cy="176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2652" cy="1767756"/>
            </a:xfrm>
            <a:custGeom>
              <a:avLst/>
              <a:gdLst/>
              <a:ahLst/>
              <a:cxnLst/>
              <a:rect r="r" b="b" t="t" l="l"/>
              <a:pathLst>
                <a:path h="1767756" w="3232652">
                  <a:moveTo>
                    <a:pt x="32169" y="0"/>
                  </a:moveTo>
                  <a:lnTo>
                    <a:pt x="3200483" y="0"/>
                  </a:lnTo>
                  <a:cubicBezTo>
                    <a:pt x="3218250" y="0"/>
                    <a:pt x="3232652" y="14402"/>
                    <a:pt x="3232652" y="32169"/>
                  </a:cubicBezTo>
                  <a:lnTo>
                    <a:pt x="3232652" y="1735587"/>
                  </a:lnTo>
                  <a:cubicBezTo>
                    <a:pt x="3232652" y="1744119"/>
                    <a:pt x="3229263" y="1752301"/>
                    <a:pt x="3223230" y="1758334"/>
                  </a:cubicBezTo>
                  <a:cubicBezTo>
                    <a:pt x="3217197" y="1764367"/>
                    <a:pt x="3209015" y="1767756"/>
                    <a:pt x="3200483" y="1767756"/>
                  </a:cubicBezTo>
                  <a:lnTo>
                    <a:pt x="32169" y="1767756"/>
                  </a:lnTo>
                  <a:cubicBezTo>
                    <a:pt x="23637" y="1767756"/>
                    <a:pt x="15455" y="1764367"/>
                    <a:pt x="9422" y="1758334"/>
                  </a:cubicBezTo>
                  <a:cubicBezTo>
                    <a:pt x="3389" y="1752301"/>
                    <a:pt x="0" y="1744119"/>
                    <a:pt x="0" y="1735587"/>
                  </a:cubicBezTo>
                  <a:lnTo>
                    <a:pt x="0" y="32169"/>
                  </a:lnTo>
                  <a:cubicBezTo>
                    <a:pt x="0" y="23637"/>
                    <a:pt x="3389" y="15455"/>
                    <a:pt x="9422" y="9422"/>
                  </a:cubicBezTo>
                  <a:cubicBezTo>
                    <a:pt x="15455" y="3389"/>
                    <a:pt x="23637" y="0"/>
                    <a:pt x="3216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8E9F4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32652" cy="1805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012867" y="8397316"/>
            <a:ext cx="6717555" cy="2018065"/>
          </a:xfrm>
          <a:custGeom>
            <a:avLst/>
            <a:gdLst/>
            <a:ahLst/>
            <a:cxnLst/>
            <a:rect r="r" b="b" t="t" l="l"/>
            <a:pathLst>
              <a:path h="2018065" w="6717555">
                <a:moveTo>
                  <a:pt x="0" y="0"/>
                </a:moveTo>
                <a:lnTo>
                  <a:pt x="6717554" y="0"/>
                </a:lnTo>
                <a:lnTo>
                  <a:pt x="6717554" y="2018065"/>
                </a:lnTo>
                <a:lnTo>
                  <a:pt x="0" y="2018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8332" y="6387296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5" y="0"/>
                </a:lnTo>
                <a:lnTo>
                  <a:pt x="3105845" y="2501499"/>
                </a:lnTo>
                <a:lnTo>
                  <a:pt x="0" y="250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60015" y="8147821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8" y="0"/>
                </a:lnTo>
                <a:lnTo>
                  <a:pt x="1187678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14345" y="7248281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4" y="0"/>
                </a:lnTo>
                <a:lnTo>
                  <a:pt x="3105844" y="2501499"/>
                </a:lnTo>
                <a:lnTo>
                  <a:pt x="0" y="250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29515" y="8321943"/>
            <a:ext cx="6968449" cy="2093438"/>
          </a:xfrm>
          <a:custGeom>
            <a:avLst/>
            <a:gdLst/>
            <a:ahLst/>
            <a:cxnLst/>
            <a:rect r="r" b="b" t="t" l="l"/>
            <a:pathLst>
              <a:path h="2093438" w="6968449">
                <a:moveTo>
                  <a:pt x="0" y="0"/>
                </a:moveTo>
                <a:lnTo>
                  <a:pt x="6968449" y="0"/>
                </a:lnTo>
                <a:lnTo>
                  <a:pt x="6968449" y="2093438"/>
                </a:lnTo>
                <a:lnTo>
                  <a:pt x="0" y="209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90707" y="8851109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7" y="0"/>
                </a:lnTo>
                <a:lnTo>
                  <a:pt x="1187677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29324" y="1146354"/>
            <a:ext cx="11418815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WHY WE  BUILT IT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30265" y="4340996"/>
            <a:ext cx="10607682" cy="283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4"/>
              </a:lnSpc>
            </a:pPr>
            <a:r>
              <a:rPr lang="en-US" sz="3260">
                <a:solidFill>
                  <a:srgbClr val="474D40"/>
                </a:solidFill>
                <a:latin typeface="Banana"/>
                <a:ea typeface="Banana"/>
                <a:cs typeface="Banana"/>
                <a:sym typeface="Banana"/>
              </a:rPr>
              <a:t>The reason why we built this is because farmers can get a bigger picture on the effects of drought on crop yields based on the evidence provided. </a:t>
            </a:r>
          </a:p>
          <a:p>
            <a:pPr algn="ctr">
              <a:lnSpc>
                <a:spcPts val="4564"/>
              </a:lnSpc>
            </a:pPr>
          </a:p>
          <a:p>
            <a:pPr algn="ctr">
              <a:lnSpc>
                <a:spcPts val="456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248" y="-447166"/>
            <a:ext cx="18856637" cy="11063943"/>
          </a:xfrm>
          <a:custGeom>
            <a:avLst/>
            <a:gdLst/>
            <a:ahLst/>
            <a:cxnLst/>
            <a:rect r="r" b="b" t="t" l="l"/>
            <a:pathLst>
              <a:path h="11063943" w="18856637">
                <a:moveTo>
                  <a:pt x="0" y="0"/>
                </a:moveTo>
                <a:lnTo>
                  <a:pt x="18856637" y="0"/>
                </a:lnTo>
                <a:lnTo>
                  <a:pt x="18856637" y="11063943"/>
                </a:lnTo>
                <a:lnTo>
                  <a:pt x="0" y="1106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04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345" y="6905149"/>
            <a:ext cx="19316691" cy="4989973"/>
          </a:xfrm>
          <a:custGeom>
            <a:avLst/>
            <a:gdLst/>
            <a:ahLst/>
            <a:cxnLst/>
            <a:rect r="r" b="b" t="t" l="l"/>
            <a:pathLst>
              <a:path h="4989973" w="19316691">
                <a:moveTo>
                  <a:pt x="0" y="0"/>
                </a:moveTo>
                <a:lnTo>
                  <a:pt x="19316690" y="0"/>
                </a:lnTo>
                <a:lnTo>
                  <a:pt x="19316690" y="4989974"/>
                </a:lnTo>
                <a:lnTo>
                  <a:pt x="0" y="49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7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0815" y="2467981"/>
            <a:ext cx="11934106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</a:pPr>
            <a:r>
              <a:rPr lang="en-US" sz="10500">
                <a:solidFill>
                  <a:srgbClr val="474D40"/>
                </a:solidFill>
                <a:latin typeface="Calistoga"/>
                <a:ea typeface="Calistoga"/>
                <a:cs typeface="Calistoga"/>
                <a:sym typeface="Calistoga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1316982" y="5372217"/>
            <a:ext cx="6395095" cy="4330012"/>
          </a:xfrm>
          <a:custGeom>
            <a:avLst/>
            <a:gdLst/>
            <a:ahLst/>
            <a:cxnLst/>
            <a:rect r="r" b="b" t="t" l="l"/>
            <a:pathLst>
              <a:path h="4330012" w="6395095">
                <a:moveTo>
                  <a:pt x="6395095" y="0"/>
                </a:moveTo>
                <a:lnTo>
                  <a:pt x="0" y="0"/>
                </a:lnTo>
                <a:lnTo>
                  <a:pt x="0" y="4330012"/>
                </a:lnTo>
                <a:lnTo>
                  <a:pt x="6395095" y="4330012"/>
                </a:lnTo>
                <a:lnTo>
                  <a:pt x="639509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86789" y="7908815"/>
            <a:ext cx="8343632" cy="2506566"/>
          </a:xfrm>
          <a:custGeom>
            <a:avLst/>
            <a:gdLst/>
            <a:ahLst/>
            <a:cxnLst/>
            <a:rect r="r" b="b" t="t" l="l"/>
            <a:pathLst>
              <a:path h="2506566" w="8343632">
                <a:moveTo>
                  <a:pt x="0" y="0"/>
                </a:moveTo>
                <a:lnTo>
                  <a:pt x="8343632" y="0"/>
                </a:lnTo>
                <a:lnTo>
                  <a:pt x="8343632" y="2506566"/>
                </a:lnTo>
                <a:lnTo>
                  <a:pt x="0" y="2506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40248" y="500809"/>
            <a:ext cx="8124646" cy="8522356"/>
          </a:xfrm>
          <a:custGeom>
            <a:avLst/>
            <a:gdLst/>
            <a:ahLst/>
            <a:cxnLst/>
            <a:rect r="r" b="b" t="t" l="l"/>
            <a:pathLst>
              <a:path h="8522356" w="8124646">
                <a:moveTo>
                  <a:pt x="0" y="0"/>
                </a:moveTo>
                <a:lnTo>
                  <a:pt x="8124646" y="0"/>
                </a:lnTo>
                <a:lnTo>
                  <a:pt x="8124646" y="8522356"/>
                </a:lnTo>
                <a:lnTo>
                  <a:pt x="0" y="85223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27756" y="6958421"/>
            <a:ext cx="3105845" cy="2501499"/>
          </a:xfrm>
          <a:custGeom>
            <a:avLst/>
            <a:gdLst/>
            <a:ahLst/>
            <a:cxnLst/>
            <a:rect r="r" b="b" t="t" l="l"/>
            <a:pathLst>
              <a:path h="2501499" w="3105845">
                <a:moveTo>
                  <a:pt x="0" y="0"/>
                </a:moveTo>
                <a:lnTo>
                  <a:pt x="3105845" y="0"/>
                </a:lnTo>
                <a:lnTo>
                  <a:pt x="3105845" y="2501500"/>
                </a:lnTo>
                <a:lnTo>
                  <a:pt x="0" y="250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4398" y="8467925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8" y="0"/>
                </a:lnTo>
                <a:lnTo>
                  <a:pt x="1187678" y="1110479"/>
                </a:lnTo>
                <a:lnTo>
                  <a:pt x="0" y="1110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06196" y="9023165"/>
            <a:ext cx="1187678" cy="1110479"/>
          </a:xfrm>
          <a:custGeom>
            <a:avLst/>
            <a:gdLst/>
            <a:ahLst/>
            <a:cxnLst/>
            <a:rect r="r" b="b" t="t" l="l"/>
            <a:pathLst>
              <a:path h="1110479" w="1187678">
                <a:moveTo>
                  <a:pt x="0" y="0"/>
                </a:moveTo>
                <a:lnTo>
                  <a:pt x="1187677" y="0"/>
                </a:lnTo>
                <a:lnTo>
                  <a:pt x="1187677" y="1110478"/>
                </a:lnTo>
                <a:lnTo>
                  <a:pt x="0" y="11104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0290" y="7908815"/>
            <a:ext cx="2554635" cy="2190600"/>
          </a:xfrm>
          <a:custGeom>
            <a:avLst/>
            <a:gdLst/>
            <a:ahLst/>
            <a:cxnLst/>
            <a:rect r="r" b="b" t="t" l="l"/>
            <a:pathLst>
              <a:path h="2190600" w="2554635">
                <a:moveTo>
                  <a:pt x="0" y="0"/>
                </a:moveTo>
                <a:lnTo>
                  <a:pt x="2554635" y="0"/>
                </a:lnTo>
                <a:lnTo>
                  <a:pt x="2554635" y="2190600"/>
                </a:lnTo>
                <a:lnTo>
                  <a:pt x="0" y="2190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DAHYVb__KEY</dc:identifier>
  <dcterms:modified xsi:type="dcterms:W3CDTF">2011-08-01T06:04:30Z</dcterms:modified>
  <cp:revision>1</cp:revision>
  <dc:title>REALITY CHECK</dc:title>
</cp:coreProperties>
</file>